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37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Cluster A — Stable</c:v>
                </c:pt>
              </c:strCache>
            </c:strRef>
          </c:tx>
          <c:spPr>
            <a:ln w="25400" cap="flat">
              <a:solidFill>
                <a:srgbClr val="0E2A4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E2A47"/>
              </a:solidFill>
              <a:ln w="9525" cap="flat">
                <a:solidFill>
                  <a:srgbClr val="0E2A47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00</c:v>
                </c:pt>
                <c:pt idx="1">
                  <c:v>02</c:v>
                </c:pt>
                <c:pt idx="2">
                  <c:v>04</c:v>
                </c:pt>
                <c:pt idx="3">
                  <c:v>06</c:v>
                </c:pt>
                <c:pt idx="4">
                  <c:v>08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1.1000000000000001</c:v>
                </c:pt>
                <c:pt idx="1">
                  <c:v>1</c:v>
                </c:pt>
                <c:pt idx="2">
                  <c:v>1</c:v>
                </c:pt>
                <c:pt idx="3">
                  <c:v>1.2</c:v>
                </c:pt>
                <c:pt idx="4">
                  <c:v>1.4</c:v>
                </c:pt>
                <c:pt idx="5">
                  <c:v>1.3</c:v>
                </c:pt>
                <c:pt idx="6">
                  <c:v>1.3</c:v>
                </c:pt>
                <c:pt idx="7">
                  <c:v>1.2</c:v>
                </c:pt>
                <c:pt idx="8">
                  <c:v>1.3</c:v>
                </c:pt>
                <c:pt idx="9">
                  <c:v>1.5</c:v>
                </c:pt>
                <c:pt idx="10">
                  <c:v>1.4</c:v>
                </c:pt>
                <c:pt idx="11">
                  <c:v>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8A-47E5-8A6B-ACF052DF32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Cluster B — Evening Peak</c:v>
                </c:pt>
              </c:strCache>
            </c:strRef>
          </c:tx>
          <c:spPr>
            <a:ln w="25400" cap="flat">
              <a:solidFill>
                <a:srgbClr val="16A34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34A"/>
              </a:solidFill>
              <a:ln w="9525" cap="flat">
                <a:solidFill>
                  <a:srgbClr val="16A34A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00</c:v>
                </c:pt>
                <c:pt idx="1">
                  <c:v>02</c:v>
                </c:pt>
                <c:pt idx="2">
                  <c:v>04</c:v>
                </c:pt>
                <c:pt idx="3">
                  <c:v>06</c:v>
                </c:pt>
                <c:pt idx="4">
                  <c:v>08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0.8</c:v>
                </c:pt>
                <c:pt idx="1">
                  <c:v>0.7</c:v>
                </c:pt>
                <c:pt idx="2">
                  <c:v>0.7</c:v>
                </c:pt>
                <c:pt idx="3">
                  <c:v>0.9</c:v>
                </c:pt>
                <c:pt idx="4">
                  <c:v>1.2</c:v>
                </c:pt>
                <c:pt idx="5">
                  <c:v>1.1000000000000001</c:v>
                </c:pt>
                <c:pt idx="6">
                  <c:v>1</c:v>
                </c:pt>
                <c:pt idx="7">
                  <c:v>1.1000000000000001</c:v>
                </c:pt>
                <c:pt idx="8">
                  <c:v>1.6</c:v>
                </c:pt>
                <c:pt idx="9">
                  <c:v>3.2</c:v>
                </c:pt>
                <c:pt idx="10">
                  <c:v>3.6</c:v>
                </c:pt>
                <c:pt idx="11">
                  <c:v>1.8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B8A-47E5-8A6B-ACF052DF32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Cluster C — Variable</c:v>
                </c:pt>
              </c:strCache>
            </c:strRef>
          </c:tx>
          <c:spPr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00</c:v>
                </c:pt>
                <c:pt idx="1">
                  <c:v>02</c:v>
                </c:pt>
                <c:pt idx="2">
                  <c:v>04</c:v>
                </c:pt>
                <c:pt idx="3">
                  <c:v>06</c:v>
                </c:pt>
                <c:pt idx="4">
                  <c:v>08</c:v>
                </c:pt>
                <c:pt idx="5">
                  <c:v>10</c:v>
                </c:pt>
                <c:pt idx="6">
                  <c:v>12</c:v>
                </c:pt>
                <c:pt idx="7">
                  <c:v>14</c:v>
                </c:pt>
                <c:pt idx="8">
                  <c:v>16</c:v>
                </c:pt>
                <c:pt idx="9">
                  <c:v>18</c:v>
                </c:pt>
                <c:pt idx="10">
                  <c:v>20</c:v>
                </c:pt>
                <c:pt idx="11">
                  <c:v>22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1.6</c:v>
                </c:pt>
                <c:pt idx="1">
                  <c:v>0.9</c:v>
                </c:pt>
                <c:pt idx="2">
                  <c:v>2.2000000000000002</c:v>
                </c:pt>
                <c:pt idx="3">
                  <c:v>1</c:v>
                </c:pt>
                <c:pt idx="4">
                  <c:v>2.6</c:v>
                </c:pt>
                <c:pt idx="5">
                  <c:v>1.2</c:v>
                </c:pt>
                <c:pt idx="6">
                  <c:v>2.9</c:v>
                </c:pt>
                <c:pt idx="7">
                  <c:v>1.3</c:v>
                </c:pt>
                <c:pt idx="8">
                  <c:v>2.4</c:v>
                </c:pt>
                <c:pt idx="9">
                  <c:v>3</c:v>
                </c:pt>
                <c:pt idx="10">
                  <c:v>1.5</c:v>
                </c:pt>
                <c:pt idx="11">
                  <c:v>2.1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B8A-47E5-8A6B-ACF052DF32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700" b="0" i="0" u="none" strike="noStrike">
                    <a:solidFill>
                      <a:srgbClr val="6B7280"/>
                    </a:solidFill>
                    <a:latin typeface="Arial"/>
                  </a:rPr>
                  <a:t>Hour of day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6ECF1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700" b="0" i="0" u="none" strike="noStrike">
                    <a:solidFill>
                      <a:srgbClr val="6B7280"/>
                    </a:solidFill>
                    <a:latin typeface="Arial"/>
                  </a:defRPr>
                </a:pPr>
                <a:r>
                  <a:rPr lang="en-US" sz="700" b="0" i="0" u="none" strike="noStrike">
                    <a:solidFill>
                      <a:srgbClr val="6B7280"/>
                    </a:solidFill>
                    <a:latin typeface="Arial"/>
                  </a:rPr>
                  <a:t>Avg consumption (kWh)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1F2937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616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06324"/>
            <a:ext cx="68580" cy="685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" y="25603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20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 &amp; DATA MINING · ACADEMIC PROJECT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53035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Categorization of Residential Consumers Electrical Energy Consumption Pattern Using Clustering and Classification Techniques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371600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High-Frequency Smart-Meter Data into Behavioural Consumer Profiles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" y="1755648"/>
            <a:ext cx="4091940" cy="4572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1911096"/>
            <a:ext cx="146304" cy="14630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819656"/>
            <a:ext cx="35250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1975104"/>
            <a:ext cx="35250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86300" y="1755648"/>
            <a:ext cx="4091940" cy="4572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32604" y="1911096"/>
            <a:ext cx="146304" cy="14630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143500" y="1819656"/>
            <a:ext cx="35250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700" dirty="0"/>
          </a:p>
        </p:txBody>
      </p:sp>
      <p:sp>
        <p:nvSpPr>
          <p:cNvPr id="13" name="Text 11"/>
          <p:cNvSpPr txBox="1"/>
          <p:nvPr/>
        </p:nvSpPr>
        <p:spPr>
          <a:xfrm>
            <a:off x="5143500" y="1975104"/>
            <a:ext cx="35250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Prasad V. Potluri Siddhartha Institute of Technology (PVPSIT)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4091940" cy="4572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12064" y="2441448"/>
            <a:ext cx="146304" cy="14630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2350008"/>
            <a:ext cx="35250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LAB</a:t>
            </a:r>
            <a:endParaRPr lang="en-US" sz="7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2505456"/>
            <a:ext cx="35250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Warehousing and Data Mining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686300" y="2286000"/>
            <a:ext cx="4091940" cy="457200"/>
          </a:xfrm>
          <a:prstGeom prst="roundRect">
            <a:avLst>
              <a:gd name="adj" fmla="val 12000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32604" y="2441448"/>
            <a:ext cx="146304" cy="14630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143500" y="2350008"/>
            <a:ext cx="35250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b="1" kern="0" spc="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700" dirty="0"/>
          </a:p>
        </p:txBody>
      </p:sp>
      <p:sp>
        <p:nvSpPr>
          <p:cNvPr id="21" name="Text 19"/>
          <p:cNvSpPr txBox="1"/>
          <p:nvPr/>
        </p:nvSpPr>
        <p:spPr>
          <a:xfrm>
            <a:off x="5143500" y="2505456"/>
            <a:ext cx="35250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· Member 2 · Member 3 · Member 4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365760" y="4773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PVPSIT · Department of CSE</a:t>
            </a:r>
            <a:endParaRPr lang="en-US" sz="750" dirty="0"/>
          </a:p>
        </p:txBody>
      </p:sp>
      <p:sp>
        <p:nvSpPr>
          <p:cNvPr id="50" name="Text 48"/>
          <p:cNvSpPr txBox="1"/>
          <p:nvPr/>
        </p:nvSpPr>
        <p:spPr>
          <a:xfrm>
            <a:off x="6949440" y="4773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01 / 08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69748"/>
            <a:ext cx="68580" cy="685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" y="21945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 · PROBLEM DEFINITION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2062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 &amp; Motivation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5120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8412480" cy="457200"/>
          </a:xfrm>
          <a:prstGeom prst="roundRect">
            <a:avLst>
              <a:gd name="adj" fmla="val 12000"/>
            </a:avLst>
          </a:prstGeom>
          <a:solidFill>
            <a:srgbClr val="0E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969264"/>
            <a:ext cx="80101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“Raw smart-meter data contains millions of timestamped electricity readings, but these readings do not directly reveal meaningful residential consumer usage patterns.”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1490471"/>
            <a:ext cx="4034790" cy="2299718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 txBox="1"/>
          <p:nvPr/>
        </p:nvSpPr>
        <p:spPr>
          <a:xfrm>
            <a:off x="493776" y="1618488"/>
            <a:ext cx="1723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" y="1965960"/>
            <a:ext cx="3646424" cy="1742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sz="1000" dirty="0"/>
              <a:t>Smart meters generate a large volume of electricity consumption data at short time intervals.</a:t>
            </a:r>
          </a:p>
          <a:p>
            <a:pPr lvl="0"/>
            <a:r>
              <a:rPr lang="en-US" sz="1000" dirty="0"/>
              <a:t>Raw consumption readings are difficult to interpret and do not directly reveal consumer </a:t>
            </a:r>
            <a:r>
              <a:rPr lang="en-US" sz="1000" dirty="0" err="1"/>
              <a:t>behaviour</a:t>
            </a:r>
            <a:r>
              <a:rPr lang="en-US" sz="1000" dirty="0"/>
              <a:t>.</a:t>
            </a:r>
          </a:p>
          <a:p>
            <a:pPr lvl="0"/>
            <a:r>
              <a:rPr lang="en-US" sz="1000" dirty="0"/>
              <a:t>Residential consumers have different electricity usage patterns across hours, days, and seasons.</a:t>
            </a:r>
          </a:p>
          <a:p>
            <a:pPr lvl="0"/>
            <a:r>
              <a:rPr lang="en-US" sz="1000" dirty="0"/>
              <a:t>The available data does not contain predefined consumer categories.</a:t>
            </a:r>
          </a:p>
          <a:p>
            <a:pPr lvl="0"/>
            <a:r>
              <a:rPr lang="en-US" sz="1000" dirty="0"/>
              <a:t>Therefore, data mining techniques are required to identify similar consumption patterns and categorize consumers.</a:t>
            </a:r>
          </a:p>
        </p:txBody>
      </p:sp>
      <p:sp>
        <p:nvSpPr>
          <p:cNvPr id="23" name="Shape 21"/>
          <p:cNvSpPr/>
          <p:nvPr/>
        </p:nvSpPr>
        <p:spPr>
          <a:xfrm>
            <a:off x="4572000" y="1490471"/>
            <a:ext cx="4206240" cy="2299717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54880" y="1609598"/>
            <a:ext cx="17236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641850" y="1938782"/>
            <a:ext cx="3625850" cy="1718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/>
            <a:r>
              <a:rPr lang="en-US" sz="1000" dirty="0"/>
              <a:t>Identify groups of residential consumers with similar electricity consumption </a:t>
            </a:r>
            <a:r>
              <a:rPr lang="en-US" sz="1000" dirty="0" err="1"/>
              <a:t>behaviour</a:t>
            </a:r>
            <a:r>
              <a:rPr lang="en-US" sz="1000" dirty="0"/>
              <a:t>.</a:t>
            </a:r>
          </a:p>
          <a:p>
            <a:pPr lvl="0"/>
            <a:endParaRPr lang="en-US" sz="1000" dirty="0"/>
          </a:p>
          <a:p>
            <a:pPr lvl="0"/>
            <a:r>
              <a:rPr lang="en-US" sz="1000" dirty="0"/>
              <a:t>Extract meaningful patterns from large-scale smart meter data.</a:t>
            </a:r>
          </a:p>
          <a:p>
            <a:pPr lvl="0"/>
            <a:r>
              <a:rPr lang="en-US" sz="1000" dirty="0"/>
              <a:t>Use clustering to discover consumer groups and classification to categorize new consumers.</a:t>
            </a:r>
          </a:p>
          <a:p>
            <a:pPr lvl="0"/>
            <a:endParaRPr lang="en-US" sz="1000" dirty="0"/>
          </a:p>
          <a:p>
            <a:pPr lvl="0"/>
            <a:r>
              <a:rPr lang="en-US" sz="1000" dirty="0"/>
              <a:t>Support better understanding of residential electricity demand patterns.</a:t>
            </a:r>
          </a:p>
        </p:txBody>
      </p:sp>
      <p:sp>
        <p:nvSpPr>
          <p:cNvPr id="43" name="Shape 41"/>
          <p:cNvSpPr/>
          <p:nvPr/>
        </p:nvSpPr>
        <p:spPr>
          <a:xfrm>
            <a:off x="365760" y="3913632"/>
            <a:ext cx="8412480" cy="603504"/>
          </a:xfrm>
          <a:prstGeom prst="roundRect">
            <a:avLst>
              <a:gd name="adj" fmla="val 9091"/>
            </a:avLst>
          </a:prstGeom>
          <a:solidFill>
            <a:srgbClr val="EAF6E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40050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800" dirty="0"/>
          </a:p>
        </p:txBody>
      </p:sp>
      <p:sp>
        <p:nvSpPr>
          <p:cNvPr id="45" name="Text 43"/>
          <p:cNvSpPr txBox="1"/>
          <p:nvPr/>
        </p:nvSpPr>
        <p:spPr>
          <a:xfrm>
            <a:off x="548640" y="420624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discover meaningful residential electricity-consumption profiles and categorize consumers based on their observed behaviour.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365760" y="4773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PVPSIT · Categorization of Residential Energy Consumption</a:t>
            </a:r>
            <a:endParaRPr lang="en-US" sz="750" dirty="0"/>
          </a:p>
        </p:txBody>
      </p:sp>
      <p:sp>
        <p:nvSpPr>
          <p:cNvPr id="47" name="Text 45"/>
          <p:cNvSpPr txBox="1"/>
          <p:nvPr/>
        </p:nvSpPr>
        <p:spPr>
          <a:xfrm>
            <a:off x="6949440" y="4773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/ 08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69748"/>
            <a:ext cx="68580" cy="685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" y="21945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 · DATA UNDERSTANDING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2062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CEEW Bareilly Smart-Meter Dataset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5120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4069080" cy="274320"/>
          </a:xfrm>
          <a:prstGeom prst="roundRect">
            <a:avLst>
              <a:gd name="adj" fmla="val 20000"/>
            </a:avLst>
          </a:prstGeom>
          <a:solidFill>
            <a:srgbClr val="0E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3776" y="896112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70432"/>
          <a:ext cx="4069080" cy="224028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CEEW Smart Meter Data — Bareilly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Bareilly, Uttar Pradesh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Residential Meters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Records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6,627,360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Sampling Interval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minutes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 Period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 Jan 2020 – 31 Dec 2020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Leap 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366 days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in source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0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Signal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t_kWh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3529584"/>
            <a:ext cx="4069080" cy="868680"/>
          </a:xfrm>
          <a:prstGeom prst="roundRect">
            <a:avLst>
              <a:gd name="adj" fmla="val 6316"/>
            </a:avLst>
          </a:prstGeom>
          <a:solidFill>
            <a:srgbClr val="EAF6E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2064" y="3621024"/>
            <a:ext cx="3776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SIGNALS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512064" y="3840480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tells </a:t>
            </a:r>
            <a:r>
              <a:rPr lang="en-US" sz="850" b="1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electricity is consumed.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512064" y="4096512"/>
            <a:ext cx="3776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t_kWh</a:t>
            </a: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tells </a:t>
            </a:r>
            <a:r>
              <a:rPr lang="en-US" sz="850" b="1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</a:t>
            </a: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electricity is consumed.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709160" y="896112"/>
            <a:ext cx="4069080" cy="274320"/>
          </a:xfrm>
          <a:prstGeom prst="roundRect">
            <a:avLst>
              <a:gd name="adj" fmla="val 20000"/>
            </a:avLst>
          </a:prstGeom>
          <a:solidFill>
            <a:srgbClr val="0E2A4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37176" y="896112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SAMPLE (METER BR02)</a:t>
            </a:r>
            <a:endParaRPr lang="en-US" sz="8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170432"/>
          <a:ext cx="4151376" cy="107442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2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t_kWh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2020-01-01 00:00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2020-01-01 00:03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235.1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2020-01-01 00:06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2020-01-01 00:09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234.9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4709160" y="230428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represents one 3-minute electricity-consumption observation.</a:t>
            </a:r>
            <a:endParaRPr lang="en-US" sz="700" dirty="0"/>
          </a:p>
        </p:txBody>
      </p:sp>
      <p:sp>
        <p:nvSpPr>
          <p:cNvPr id="17" name="Shape 13"/>
          <p:cNvSpPr/>
          <p:nvPr/>
        </p:nvSpPr>
        <p:spPr>
          <a:xfrm>
            <a:off x="4709160" y="2578608"/>
            <a:ext cx="4069080" cy="274320"/>
          </a:xfrm>
          <a:prstGeom prst="roundRect">
            <a:avLst>
              <a:gd name="adj" fmla="val 20000"/>
            </a:avLst>
          </a:prstGeom>
          <a:solidFill>
            <a:srgbClr val="0E2A47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837176" y="2578608"/>
            <a:ext cx="3813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SCHEMA (6 COLUMNS)</a:t>
            </a:r>
            <a:endParaRPr lang="en-US" sz="8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2852928"/>
          <a:ext cx="4151376" cy="1504188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3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b="1" dirty="0">
                          <a:solidFill>
                            <a:srgbClr val="0E2A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Role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residential meter 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 identifier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x_Timestamp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and time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analysis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t_kWh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energy consumption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analytical signal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z_Avg Voltage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voltage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metric / validation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z_Avg Current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 current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metric / validation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48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y_Freq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frequency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7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Secondary metric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 15"/>
          <p:cNvSpPr txBox="1"/>
          <p:nvPr/>
        </p:nvSpPr>
        <p:spPr>
          <a:xfrm>
            <a:off x="365760" y="4773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PVPSIT · Categorization of Residential Energy Consumption</a:t>
            </a:r>
            <a:endParaRPr lang="en-US" sz="750" dirty="0"/>
          </a:p>
        </p:txBody>
      </p:sp>
      <p:sp>
        <p:nvSpPr>
          <p:cNvPr id="21" name="Text 16"/>
          <p:cNvSpPr txBox="1"/>
          <p:nvPr/>
        </p:nvSpPr>
        <p:spPr>
          <a:xfrm>
            <a:off x="6949440" y="4773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/ 08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69748"/>
            <a:ext cx="68580" cy="685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" y="21945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 · PREPROCESSING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2062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6.63M Raw Readings to Consumer Behaviour Profiles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5120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08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8778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7091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5488" y="1216152"/>
            <a:ext cx="274320" cy="27432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5488" y="12710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1170432"/>
            <a:ext cx="4105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1344168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verification · Duplicate detection · Invalid-value detection · Negative-consumption check · Outlier inspection</a:t>
            </a:r>
            <a:endParaRPr lang="en-US" sz="7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" y="1609344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365760" y="1682496"/>
            <a:ext cx="47091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" y="1801368"/>
            <a:ext cx="274320" cy="27432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75488" y="185623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1755648"/>
            <a:ext cx="4105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Processing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" y="1929384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· Day · Month · Weekday · Weekend · Season</a:t>
            </a:r>
            <a:endParaRPr lang="en-US" sz="7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" y="2194560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65760" y="2267712"/>
            <a:ext cx="47091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" y="2386584"/>
            <a:ext cx="274320" cy="27432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75488" y="244144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2340864"/>
            <a:ext cx="4105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Aggregation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2514600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summaries · Daily summaries · Weekly patterns · Monthly / seasonal summaries</a:t>
            </a:r>
            <a:endParaRPr lang="en-US" sz="700" dirty="0"/>
          </a:p>
        </p:txBody>
      </p:sp>
      <p:sp>
        <p:nvSpPr>
          <p:cNvPr id="24" name="Text 22"/>
          <p:cNvSpPr txBox="1"/>
          <p:nvPr/>
        </p:nvSpPr>
        <p:spPr>
          <a:xfrm>
            <a:off x="475488" y="2779776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365760" y="2852928"/>
            <a:ext cx="47091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2971800"/>
            <a:ext cx="274320" cy="27432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5488" y="30266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50" dirty="0"/>
          </a:p>
        </p:txBody>
      </p:sp>
      <p:sp>
        <p:nvSpPr>
          <p:cNvPr id="28" name="Text 26"/>
          <p:cNvSpPr txBox="1"/>
          <p:nvPr/>
        </p:nvSpPr>
        <p:spPr>
          <a:xfrm>
            <a:off x="841248" y="2926080"/>
            <a:ext cx="4105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" y="3099816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behavioural indicators from raw consumption time series.</a:t>
            </a:r>
            <a:endParaRPr lang="en-US" sz="700" dirty="0"/>
          </a:p>
        </p:txBody>
      </p:sp>
      <p:sp>
        <p:nvSpPr>
          <p:cNvPr id="30" name="Text 28"/>
          <p:cNvSpPr txBox="1"/>
          <p:nvPr/>
        </p:nvSpPr>
        <p:spPr>
          <a:xfrm>
            <a:off x="475488" y="3364992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65760" y="3438144"/>
            <a:ext cx="47091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5488" y="3557016"/>
            <a:ext cx="274320" cy="27432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5488" y="36118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50" dirty="0"/>
          </a:p>
        </p:txBody>
      </p:sp>
      <p:sp>
        <p:nvSpPr>
          <p:cNvPr id="34" name="Text 32"/>
          <p:cNvSpPr txBox="1"/>
          <p:nvPr/>
        </p:nvSpPr>
        <p:spPr>
          <a:xfrm>
            <a:off x="841248" y="3511296"/>
            <a:ext cx="4105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Profile Creation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41248" y="3685032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observations of each meter into one representative feature vector — 46 meters → 46 profiles.</a:t>
            </a:r>
            <a:endParaRPr lang="en-US" sz="700" dirty="0"/>
          </a:p>
        </p:txBody>
      </p:sp>
      <p:sp>
        <p:nvSpPr>
          <p:cNvPr id="36" name="Text 34"/>
          <p:cNvSpPr txBox="1"/>
          <p:nvPr/>
        </p:nvSpPr>
        <p:spPr>
          <a:xfrm>
            <a:off x="475488" y="3950208"/>
            <a:ext cx="27432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5760" y="4023360"/>
            <a:ext cx="470916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" y="4142232"/>
            <a:ext cx="274320" cy="27432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75488" y="419709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50" dirty="0"/>
          </a:p>
        </p:txBody>
      </p:sp>
      <p:sp>
        <p:nvSpPr>
          <p:cNvPr id="40" name="Text 38"/>
          <p:cNvSpPr txBox="1"/>
          <p:nvPr/>
        </p:nvSpPr>
        <p:spPr>
          <a:xfrm>
            <a:off x="841248" y="4096512"/>
            <a:ext cx="41056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841248" y="4270248"/>
            <a:ext cx="4105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numerical features before distance-based clustering.</a:t>
            </a:r>
            <a:endParaRPr lang="en-US" sz="700" dirty="0"/>
          </a:p>
        </p:txBody>
      </p:sp>
      <p:sp>
        <p:nvSpPr>
          <p:cNvPr id="42" name="Text 40"/>
          <p:cNvSpPr txBox="1"/>
          <p:nvPr/>
        </p:nvSpPr>
        <p:spPr>
          <a:xfrm>
            <a:off x="5349240" y="87782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349240" y="1097280"/>
            <a:ext cx="3429000" cy="804672"/>
          </a:xfrm>
          <a:prstGeom prst="roundRect">
            <a:avLst>
              <a:gd name="adj" fmla="val 6818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77256" y="122529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2A4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788152" y="1234440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Features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5788152" y="146304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consumption · Standard deviation · Minimum · Maximum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349240" y="2011680"/>
            <a:ext cx="3429000" cy="804672"/>
          </a:xfrm>
          <a:prstGeom prst="roundRect">
            <a:avLst>
              <a:gd name="adj" fmla="val 6818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77256" y="213969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5788152" y="2148840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Features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5788152" y="237744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consumption · Peak-to-average ratio · Peak-hour share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349240" y="2926080"/>
            <a:ext cx="3429000" cy="804672"/>
          </a:xfrm>
          <a:prstGeom prst="roundRect">
            <a:avLst>
              <a:gd name="adj" fmla="val 6818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77256" y="3054096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0E7A3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5788152" y="3063240"/>
            <a:ext cx="2862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Time-of-Use / Behavioural Features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5788152" y="3291840"/>
            <a:ext cx="2862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share · Daytime share · Evening share · Night / off-peak share · Weekday / weekend difference · Seasonal variation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5349240" y="3877056"/>
            <a:ext cx="3429000" cy="694944"/>
          </a:xfrm>
          <a:prstGeom prst="roundRect">
            <a:avLst>
              <a:gd name="adj" fmla="val 7895"/>
            </a:avLst>
          </a:prstGeom>
          <a:solidFill>
            <a:srgbClr val="0E2A47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5495544" y="3968496"/>
            <a:ext cx="3136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6,627,360 </a:t>
            </a:r>
            <a:r>
              <a:rPr lang="en-US" sz="8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observations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365760" y="4773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PVPSIT · Categorization of Residential Energy Consumption</a:t>
            </a:r>
            <a:endParaRPr lang="en-US" sz="750" dirty="0"/>
          </a:p>
        </p:txBody>
      </p:sp>
      <p:sp>
        <p:nvSpPr>
          <p:cNvPr id="59" name="Text 57"/>
          <p:cNvSpPr txBox="1"/>
          <p:nvPr/>
        </p:nvSpPr>
        <p:spPr>
          <a:xfrm>
            <a:off x="6949440" y="4773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04 / 08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69748"/>
            <a:ext cx="68580" cy="685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" y="21945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 · CLUSTERING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2062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Discovering Residential Consumer Groups Using Clustering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5120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77824"/>
            <a:ext cx="8412480" cy="329184"/>
          </a:xfrm>
          <a:prstGeom prst="roundRect">
            <a:avLst>
              <a:gd name="adj" fmla="val 16667"/>
            </a:avLst>
          </a:prstGeom>
          <a:solidFill>
            <a:srgbClr val="0E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950976"/>
            <a:ext cx="8010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“Because the dataset contains no predefined consumption-pattern labels, clustering is used first to discover natural groups of similar consumers.”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1280160" cy="329184"/>
          </a:xfrm>
          <a:prstGeom prst="roundRect">
            <a:avLst>
              <a:gd name="adj" fmla="val 138889"/>
            </a:avLst>
          </a:prstGeom>
          <a:solidFill>
            <a:srgbClr val="0E2A4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20624" y="129844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Consumer Feature Vectors</a:t>
            </a:r>
            <a:endParaRPr lang="en-US" sz="65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1298448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92224" y="1298448"/>
            <a:ext cx="1280160" cy="329184"/>
          </a:xfrm>
          <a:prstGeom prst="roundRect">
            <a:avLst>
              <a:gd name="adj" fmla="val 138889"/>
            </a:avLst>
          </a:prstGeom>
          <a:solidFill>
            <a:srgbClr val="16A3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847088" y="129844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1298448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18688" y="1298448"/>
            <a:ext cx="1280160" cy="329184"/>
          </a:xfrm>
          <a:prstGeom prst="roundRect">
            <a:avLst>
              <a:gd name="adj" fmla="val 138889"/>
            </a:avLst>
          </a:prstGeom>
          <a:solidFill>
            <a:srgbClr val="0E2A4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73552" y="129844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Algorithm</a:t>
            </a:r>
            <a:endParaRPr lang="en-US" sz="650" dirty="0"/>
          </a:p>
        </p:txBody>
      </p:sp>
      <p:sp>
        <p:nvSpPr>
          <p:cNvPr id="16" name="Text 14"/>
          <p:cNvSpPr txBox="1"/>
          <p:nvPr/>
        </p:nvSpPr>
        <p:spPr>
          <a:xfrm>
            <a:off x="4498848" y="1298448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45152" y="1298448"/>
            <a:ext cx="1280160" cy="329184"/>
          </a:xfrm>
          <a:prstGeom prst="roundRect">
            <a:avLst>
              <a:gd name="adj" fmla="val 138889"/>
            </a:avLst>
          </a:prstGeom>
          <a:solidFill>
            <a:srgbClr val="16A3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00016" y="129844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/ Distance Analysis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5925312" y="1298448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71616" y="1298448"/>
            <a:ext cx="1280160" cy="329184"/>
          </a:xfrm>
          <a:prstGeom prst="roundRect">
            <a:avLst>
              <a:gd name="adj" fmla="val 138889"/>
            </a:avLst>
          </a:prstGeom>
          <a:solidFill>
            <a:srgbClr val="0E2A4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26480" y="129844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Clusters</a:t>
            </a:r>
            <a:endParaRPr lang="en-US" sz="650" dirty="0"/>
          </a:p>
        </p:txBody>
      </p:sp>
      <p:sp>
        <p:nvSpPr>
          <p:cNvPr id="22" name="Text 20"/>
          <p:cNvSpPr txBox="1"/>
          <p:nvPr/>
        </p:nvSpPr>
        <p:spPr>
          <a:xfrm>
            <a:off x="7351776" y="1298448"/>
            <a:ext cx="1463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498080" y="1298448"/>
            <a:ext cx="1280160" cy="329184"/>
          </a:xfrm>
          <a:prstGeom prst="roundRect">
            <a:avLst>
              <a:gd name="adj" fmla="val 138889"/>
            </a:avLst>
          </a:prstGeom>
          <a:solidFill>
            <a:srgbClr val="16A34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552944" y="1298448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Archetypes</a:t>
            </a:r>
            <a:endParaRPr lang="en-US" sz="650" dirty="0"/>
          </a:p>
        </p:txBody>
      </p:sp>
      <p:sp>
        <p:nvSpPr>
          <p:cNvPr id="25" name="Text 23"/>
          <p:cNvSpPr txBox="1"/>
          <p:nvPr/>
        </p:nvSpPr>
        <p:spPr>
          <a:xfrm>
            <a:off x="365760" y="17556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CONSIDERED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65760" y="1956816"/>
            <a:ext cx="42062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" y="204825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0" y="2048256"/>
            <a:ext cx="950976" cy="201168"/>
          </a:xfrm>
          <a:prstGeom prst="roundRect">
            <a:avLst>
              <a:gd name="adj" fmla="val 45455"/>
            </a:avLst>
          </a:prstGeom>
          <a:solidFill>
            <a:srgbClr val="EAF6E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474720" y="2048256"/>
            <a:ext cx="950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METHOD</a:t>
            </a:r>
            <a:endParaRPr lang="en-US" sz="650" dirty="0"/>
          </a:p>
        </p:txBody>
      </p:sp>
      <p:sp>
        <p:nvSpPr>
          <p:cNvPr id="30" name="Text 28"/>
          <p:cNvSpPr txBox="1"/>
          <p:nvPr/>
        </p:nvSpPr>
        <p:spPr>
          <a:xfrm>
            <a:off x="512064" y="2286000"/>
            <a:ext cx="3913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similar consumer profiles by minimizing within-cluster variation. Suitable for engineered continuous consumption features; cluster centroids represent prototypical consumer behaviour.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12064" y="2706624"/>
            <a:ext cx="1243584" cy="256032"/>
          </a:xfrm>
          <a:prstGeom prst="roundRect">
            <a:avLst>
              <a:gd name="adj" fmla="val 17857"/>
            </a:avLst>
          </a:prstGeom>
          <a:solidFill>
            <a:srgbClr val="F6F8FA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57784" y="270662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Select K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847088" y="2706624"/>
            <a:ext cx="1243584" cy="256032"/>
          </a:xfrm>
          <a:prstGeom prst="roundRect">
            <a:avLst>
              <a:gd name="adj" fmla="val 17857"/>
            </a:avLst>
          </a:prstGeom>
          <a:solidFill>
            <a:srgbClr val="F6F8FA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892808" y="270662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Initialize centroids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3182112" y="2706624"/>
            <a:ext cx="1243584" cy="256032"/>
          </a:xfrm>
          <a:prstGeom prst="roundRect">
            <a:avLst>
              <a:gd name="adj" fmla="val 17857"/>
            </a:avLst>
          </a:prstGeom>
          <a:solidFill>
            <a:srgbClr val="F6F8FA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227832" y="2706624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Calculate distance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512064" y="3008376"/>
            <a:ext cx="1243584" cy="256032"/>
          </a:xfrm>
          <a:prstGeom prst="roundRect">
            <a:avLst>
              <a:gd name="adj" fmla="val 17857"/>
            </a:avLst>
          </a:prstGeom>
          <a:solidFill>
            <a:srgbClr val="F6F8FA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7784" y="300837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Assign to nearest centroid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1847088" y="3008376"/>
            <a:ext cx="1243584" cy="256032"/>
          </a:xfrm>
          <a:prstGeom prst="roundRect">
            <a:avLst>
              <a:gd name="adj" fmla="val 17857"/>
            </a:avLst>
          </a:prstGeom>
          <a:solidFill>
            <a:srgbClr val="F6F8FA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892808" y="300837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Recalculate centroids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3182112" y="3008376"/>
            <a:ext cx="1243584" cy="256032"/>
          </a:xfrm>
          <a:prstGeom prst="roundRect">
            <a:avLst>
              <a:gd name="adj" fmla="val 17857"/>
            </a:avLst>
          </a:prstGeom>
          <a:solidFill>
            <a:srgbClr val="F6F8FA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227832" y="3008376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Repeat until convergence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365760" y="3419856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12064" y="349300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AGGLOMERATIVE CLUSTERING (HAC)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512064" y="3675888"/>
            <a:ext cx="39136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hierarchy of similar consumers and can be represented using a dendrogram.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65760" y="4014216"/>
            <a:ext cx="4206240" cy="566928"/>
          </a:xfrm>
          <a:prstGeom prst="roundRect">
            <a:avLst>
              <a:gd name="adj" fmla="val 9677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12064" y="4087368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MIXTURE MODEL (GMM)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512064" y="4270248"/>
            <a:ext cx="3913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consumer profiles as a mixture of probability distributions and provides probabilistic cluster membership.</a:t>
            </a:r>
            <a:endParaRPr lang="en-US" sz="750" dirty="0"/>
          </a:p>
        </p:txBody>
      </p:sp>
      <p:sp>
        <p:nvSpPr>
          <p:cNvPr id="49" name="Text 47"/>
          <p:cNvSpPr txBox="1"/>
          <p:nvPr/>
        </p:nvSpPr>
        <p:spPr>
          <a:xfrm>
            <a:off x="4846320" y="17556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K-MEANS?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846320" y="1956816"/>
            <a:ext cx="189280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965192" y="209854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193792" y="204825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Features</a:t>
            </a:r>
            <a:endParaRPr lang="en-US" sz="850" dirty="0"/>
          </a:p>
        </p:txBody>
      </p:sp>
      <p:sp>
        <p:nvSpPr>
          <p:cNvPr id="53" name="Text 51"/>
          <p:cNvSpPr txBox="1"/>
          <p:nvPr/>
        </p:nvSpPr>
        <p:spPr>
          <a:xfrm>
            <a:off x="5193792" y="22128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engineered continuous consumption features.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885432" y="1956816"/>
            <a:ext cx="189280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004304" y="2098548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232904" y="2048256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7232904" y="221284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centroids represent prototypical consumer behaviour.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846320" y="2523744"/>
            <a:ext cx="189280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965192" y="2665476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5193792" y="26151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850" dirty="0"/>
          </a:p>
        </p:txBody>
      </p:sp>
      <p:sp>
        <p:nvSpPr>
          <p:cNvPr id="61" name="Text 59"/>
          <p:cNvSpPr txBox="1"/>
          <p:nvPr/>
        </p:nvSpPr>
        <p:spPr>
          <a:xfrm>
            <a:off x="5193792" y="277977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repeated experimentation.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885432" y="2523744"/>
            <a:ext cx="1892808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004304" y="2665476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7232904" y="26151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Discovery</a:t>
            </a:r>
            <a:endParaRPr lang="en-US" sz="850" dirty="0"/>
          </a:p>
        </p:txBody>
      </p:sp>
      <p:sp>
        <p:nvSpPr>
          <p:cNvPr id="65" name="Text 63"/>
          <p:cNvSpPr txBox="1"/>
          <p:nvPr/>
        </p:nvSpPr>
        <p:spPr>
          <a:xfrm>
            <a:off x="7232904" y="277977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require predefined consumption labels.</a:t>
            </a:r>
            <a:endParaRPr lang="en-US" sz="700" dirty="0"/>
          </a:p>
        </p:txBody>
      </p:sp>
      <p:sp>
        <p:nvSpPr>
          <p:cNvPr id="66" name="Text 64"/>
          <p:cNvSpPr txBox="1"/>
          <p:nvPr/>
        </p:nvSpPr>
        <p:spPr>
          <a:xfrm>
            <a:off x="4846320" y="32004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CLUSTER PROFILES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846320" y="3401568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74336" y="3584448"/>
            <a:ext cx="171450" cy="27432"/>
          </a:xfrm>
          <a:prstGeom prst="line">
            <a:avLst/>
          </a:prstGeom>
          <a:noFill/>
          <a:ln w="19050">
            <a:solidFill>
              <a:srgbClr val="0E2A47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5145786" y="3566160"/>
            <a:ext cx="171450" cy="45720"/>
          </a:xfrm>
          <a:prstGeom prst="line">
            <a:avLst/>
          </a:prstGeom>
          <a:noFill/>
          <a:ln w="19050">
            <a:solidFill>
              <a:srgbClr val="0E2A47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317236" y="3566160"/>
            <a:ext cx="171450" cy="36576"/>
          </a:xfrm>
          <a:prstGeom prst="line">
            <a:avLst/>
          </a:prstGeom>
          <a:noFill/>
          <a:ln w="19050">
            <a:solidFill>
              <a:srgbClr val="0E2A4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5488686" y="3584448"/>
            <a:ext cx="171450" cy="18288"/>
          </a:xfrm>
          <a:prstGeom prst="line">
            <a:avLst/>
          </a:prstGeom>
          <a:noFill/>
          <a:ln w="19050">
            <a:solidFill>
              <a:srgbClr val="0E2A47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788152" y="3456432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A — Stable / Lower Variation</a:t>
            </a:r>
            <a:endParaRPr lang="en-US" sz="800" dirty="0"/>
          </a:p>
        </p:txBody>
      </p:sp>
      <p:sp>
        <p:nvSpPr>
          <p:cNvPr id="73" name="Text 71"/>
          <p:cNvSpPr txBox="1"/>
          <p:nvPr/>
        </p:nvSpPr>
        <p:spPr>
          <a:xfrm>
            <a:off x="5788152" y="3602736"/>
            <a:ext cx="2935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(gentle flat line)</a:t>
            </a:r>
            <a:endParaRPr lang="en-US" sz="700" dirty="0"/>
          </a:p>
        </p:txBody>
      </p:sp>
      <p:sp>
        <p:nvSpPr>
          <p:cNvPr id="74" name="Shape 72"/>
          <p:cNvSpPr/>
          <p:nvPr/>
        </p:nvSpPr>
        <p:spPr>
          <a:xfrm>
            <a:off x="4846320" y="3803904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4974336" y="4059936"/>
            <a:ext cx="171450" cy="18288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flipV="1">
            <a:off x="5145786" y="4032504"/>
            <a:ext cx="171450" cy="27432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5317236" y="3968496"/>
            <a:ext cx="171450" cy="64008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5488686" y="3858768"/>
            <a:ext cx="171450" cy="109728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5788152" y="3858768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B — Strong Evening Peak</a:t>
            </a:r>
            <a:endParaRPr lang="en-US" sz="800" dirty="0"/>
          </a:p>
        </p:txBody>
      </p:sp>
      <p:sp>
        <p:nvSpPr>
          <p:cNvPr id="80" name="Text 78"/>
          <p:cNvSpPr txBox="1"/>
          <p:nvPr/>
        </p:nvSpPr>
        <p:spPr>
          <a:xfrm>
            <a:off x="5788152" y="4005072"/>
            <a:ext cx="2935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(line rising sharply at the right side)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4846320" y="4206240"/>
            <a:ext cx="3931920" cy="365760"/>
          </a:xfrm>
          <a:prstGeom prst="roundRect">
            <a:avLst>
              <a:gd name="adj" fmla="val 15000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flipV="1">
            <a:off x="4974336" y="4297680"/>
            <a:ext cx="171450" cy="18288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145786" y="4297680"/>
            <a:ext cx="171450" cy="173736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5317236" y="4306824"/>
            <a:ext cx="171450" cy="164592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488686" y="4306824"/>
            <a:ext cx="171450" cy="155448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5788152" y="4261104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 — Higher / More Variable Consumption</a:t>
            </a:r>
            <a:endParaRPr lang="en-US" sz="800" dirty="0"/>
          </a:p>
        </p:txBody>
      </p:sp>
      <p:sp>
        <p:nvSpPr>
          <p:cNvPr id="87" name="Text 85"/>
          <p:cNvSpPr txBox="1"/>
          <p:nvPr/>
        </p:nvSpPr>
        <p:spPr>
          <a:xfrm>
            <a:off x="5788152" y="4407408"/>
            <a:ext cx="2935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(volatile zig-zag line)</a:t>
            </a:r>
            <a:endParaRPr lang="en-US" sz="700" dirty="0"/>
          </a:p>
        </p:txBody>
      </p:sp>
      <p:sp>
        <p:nvSpPr>
          <p:cNvPr id="88" name="Text 86"/>
          <p:cNvSpPr txBox="1"/>
          <p:nvPr/>
        </p:nvSpPr>
        <p:spPr>
          <a:xfrm>
            <a:off x="4846320" y="4590288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interpretations — not predefined labels.</a:t>
            </a:r>
            <a:endParaRPr lang="en-US" sz="650" dirty="0"/>
          </a:p>
        </p:txBody>
      </p:sp>
      <p:sp>
        <p:nvSpPr>
          <p:cNvPr id="89" name="Text 87"/>
          <p:cNvSpPr txBox="1"/>
          <p:nvPr/>
        </p:nvSpPr>
        <p:spPr>
          <a:xfrm>
            <a:off x="365760" y="4773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PVPSIT · Categorization of Residential Energy Consumption</a:t>
            </a:r>
            <a:endParaRPr lang="en-US" sz="750" dirty="0"/>
          </a:p>
        </p:txBody>
      </p:sp>
      <p:sp>
        <p:nvSpPr>
          <p:cNvPr id="90" name="Text 88"/>
          <p:cNvSpPr txBox="1"/>
          <p:nvPr/>
        </p:nvSpPr>
        <p:spPr>
          <a:xfrm>
            <a:off x="6949440" y="4773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05 / 08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69748"/>
            <a:ext cx="68580" cy="685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" y="21945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 · VALIDATION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2062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Know the Discovered Clusters are Meaningful?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5120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96112"/>
            <a:ext cx="26822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014984"/>
            <a:ext cx="237744" cy="23774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93776" y="106070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1051560"/>
            <a:ext cx="2115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ELBOW METHOD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93776" y="1353312"/>
            <a:ext cx="2426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80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PLOTS</a:t>
            </a:r>
            <a:endParaRPr lang="en-US" sz="650" dirty="0"/>
          </a:p>
        </p:txBody>
      </p:sp>
      <p:sp>
        <p:nvSpPr>
          <p:cNvPr id="11" name="Text 9"/>
          <p:cNvSpPr txBox="1"/>
          <p:nvPr/>
        </p:nvSpPr>
        <p:spPr>
          <a:xfrm>
            <a:off x="493776" y="1495044"/>
            <a:ext cx="2426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vs. Within-Cluster Sum of Squares / Inertia</a:t>
            </a:r>
            <a:endParaRPr lang="en-US" sz="750" dirty="0"/>
          </a:p>
        </p:txBody>
      </p:sp>
      <p:sp>
        <p:nvSpPr>
          <p:cNvPr id="12" name="Text 10"/>
          <p:cNvSpPr txBox="1"/>
          <p:nvPr/>
        </p:nvSpPr>
        <p:spPr>
          <a:xfrm>
            <a:off x="493776" y="1655064"/>
            <a:ext cx="2426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80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650" dirty="0"/>
          </a:p>
        </p:txBody>
      </p:sp>
      <p:sp>
        <p:nvSpPr>
          <p:cNvPr id="13" name="Text 11"/>
          <p:cNvSpPr txBox="1"/>
          <p:nvPr/>
        </p:nvSpPr>
        <p:spPr>
          <a:xfrm>
            <a:off x="493776" y="1796796"/>
            <a:ext cx="242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a suitable K by identifying where additional clusters provide diminishing improvement.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30880" y="896112"/>
            <a:ext cx="26822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8896" y="1014984"/>
            <a:ext cx="237744" cy="23774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58896" y="106070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3669792" y="1051560"/>
            <a:ext cx="2115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ANALYSIS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358896" y="1353312"/>
            <a:ext cx="2426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80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650" dirty="0"/>
          </a:p>
        </p:txBody>
      </p:sp>
      <p:sp>
        <p:nvSpPr>
          <p:cNvPr id="19" name="Text 17"/>
          <p:cNvSpPr txBox="1"/>
          <p:nvPr/>
        </p:nvSpPr>
        <p:spPr>
          <a:xfrm>
            <a:off x="3358896" y="1495044"/>
            <a:ext cx="242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closely a consumer belongs to its own cluster vs. neighbouring clusters.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3358896" y="1773936"/>
            <a:ext cx="2426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80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</a:t>
            </a:r>
            <a:endParaRPr lang="en-US" sz="650" dirty="0"/>
          </a:p>
        </p:txBody>
      </p:sp>
      <p:sp>
        <p:nvSpPr>
          <p:cNvPr id="21" name="Text 19"/>
          <p:cNvSpPr txBox="1"/>
          <p:nvPr/>
        </p:nvSpPr>
        <p:spPr>
          <a:xfrm>
            <a:off x="3358896" y="1915668"/>
            <a:ext cx="24262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Cohesion · Separation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3358896" y="2075688"/>
            <a:ext cx="2426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80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650" dirty="0"/>
          </a:p>
        </p:txBody>
      </p:sp>
      <p:sp>
        <p:nvSpPr>
          <p:cNvPr id="23" name="Text 21"/>
          <p:cNvSpPr txBox="1"/>
          <p:nvPr/>
        </p:nvSpPr>
        <p:spPr>
          <a:xfrm>
            <a:off x="3358896" y="2217420"/>
            <a:ext cx="242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values generally indicate better-defined cluster structure.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096000" y="896112"/>
            <a:ext cx="268224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24016" y="1014984"/>
            <a:ext cx="237744" cy="23774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24016" y="1060704"/>
            <a:ext cx="2377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6534912" y="1051560"/>
            <a:ext cx="2115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DAVIES–BOULDIN INDEX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224016" y="1353312"/>
            <a:ext cx="2426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80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</a:t>
            </a:r>
            <a:endParaRPr lang="en-US" sz="650" dirty="0"/>
          </a:p>
        </p:txBody>
      </p:sp>
      <p:sp>
        <p:nvSpPr>
          <p:cNvPr id="29" name="Text 27"/>
          <p:cNvSpPr txBox="1"/>
          <p:nvPr/>
        </p:nvSpPr>
        <p:spPr>
          <a:xfrm>
            <a:off x="6224016" y="1495044"/>
            <a:ext cx="242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between clusters using internal dispersion and separation.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6224016" y="1773936"/>
            <a:ext cx="2426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80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650" dirty="0"/>
          </a:p>
        </p:txBody>
      </p:sp>
      <p:sp>
        <p:nvSpPr>
          <p:cNvPr id="31" name="Text 29"/>
          <p:cNvSpPr txBox="1"/>
          <p:nvPr/>
        </p:nvSpPr>
        <p:spPr>
          <a:xfrm>
            <a:off x="6224016" y="1915668"/>
            <a:ext cx="2426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values generally indicate more compact and separated clusters.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5760" y="2578608"/>
            <a:ext cx="4709160" cy="1691640"/>
          </a:xfrm>
          <a:prstGeom prst="roundRect">
            <a:avLst>
              <a:gd name="adj" fmla="val 3243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12064" y="2651760"/>
            <a:ext cx="44165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DAILY LOAD CURVE BY CLUSTER</a:t>
            </a:r>
            <a:endParaRPr lang="en-US" sz="750" dirty="0"/>
          </a:p>
        </p:txBody>
      </p:sp>
      <p:graphicFrame>
        <p:nvGraphicFramePr>
          <p:cNvPr id="34" name="Chart 0"/>
          <p:cNvGraphicFramePr/>
          <p:nvPr/>
        </p:nvGraphicFramePr>
        <p:xfrm>
          <a:off x="457200" y="2816352"/>
          <a:ext cx="4526280" cy="1389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5" name="Text 32"/>
          <p:cNvSpPr txBox="1"/>
          <p:nvPr/>
        </p:nvSpPr>
        <p:spPr>
          <a:xfrm>
            <a:off x="5349240" y="25786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 EXAMPLES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5349240" y="2798064"/>
            <a:ext cx="34290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477256" y="2935224"/>
            <a:ext cx="146304" cy="146304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5715000" y="2880360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Profile</a:t>
            </a:r>
            <a:endParaRPr lang="en-US" sz="850" dirty="0"/>
          </a:p>
        </p:txBody>
      </p:sp>
      <p:sp>
        <p:nvSpPr>
          <p:cNvPr id="39" name="Text 36"/>
          <p:cNvSpPr txBox="1"/>
          <p:nvPr/>
        </p:nvSpPr>
        <p:spPr>
          <a:xfrm>
            <a:off x="5715000" y="3054096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Relatively consistent consumption throughout the day.</a:t>
            </a:r>
            <a:endParaRPr lang="en-US" sz="700" dirty="0"/>
          </a:p>
        </p:txBody>
      </p:sp>
      <p:sp>
        <p:nvSpPr>
          <p:cNvPr id="40" name="Shape 37"/>
          <p:cNvSpPr/>
          <p:nvPr/>
        </p:nvSpPr>
        <p:spPr>
          <a:xfrm>
            <a:off x="5349240" y="3319272"/>
            <a:ext cx="34290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477256" y="3456432"/>
            <a:ext cx="146304" cy="14630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5715000" y="3401568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Evening-Peak Profile</a:t>
            </a:r>
            <a:endParaRPr lang="en-US" sz="850" dirty="0"/>
          </a:p>
        </p:txBody>
      </p:sp>
      <p:sp>
        <p:nvSpPr>
          <p:cNvPr id="43" name="Text 40"/>
          <p:cNvSpPr txBox="1"/>
          <p:nvPr/>
        </p:nvSpPr>
        <p:spPr>
          <a:xfrm>
            <a:off x="5715000" y="3575304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increases substantially during evening hours.</a:t>
            </a:r>
            <a:endParaRPr lang="en-US" sz="700" dirty="0"/>
          </a:p>
        </p:txBody>
      </p:sp>
      <p:sp>
        <p:nvSpPr>
          <p:cNvPr id="44" name="Shape 41"/>
          <p:cNvSpPr/>
          <p:nvPr/>
        </p:nvSpPr>
        <p:spPr>
          <a:xfrm>
            <a:off x="5349240" y="3840480"/>
            <a:ext cx="342900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477256" y="397764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5715000" y="3922776"/>
            <a:ext cx="2935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Profile</a:t>
            </a:r>
            <a:endParaRPr lang="en-US" sz="850" dirty="0"/>
          </a:p>
        </p:txBody>
      </p:sp>
      <p:sp>
        <p:nvSpPr>
          <p:cNvPr id="47" name="Text 44"/>
          <p:cNvSpPr txBox="1"/>
          <p:nvPr/>
        </p:nvSpPr>
        <p:spPr>
          <a:xfrm>
            <a:off x="5715000" y="4096512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7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differences between low-demand and high-demand periods.</a:t>
            </a:r>
            <a:endParaRPr lang="en-US" sz="700" dirty="0"/>
          </a:p>
        </p:txBody>
      </p:sp>
      <p:sp>
        <p:nvSpPr>
          <p:cNvPr id="48" name="Text 45"/>
          <p:cNvSpPr txBox="1"/>
          <p:nvPr/>
        </p:nvSpPr>
        <p:spPr>
          <a:xfrm>
            <a:off x="2148840" y="2651760"/>
            <a:ext cx="2779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actual curves are produced after clustering is executed.</a:t>
            </a:r>
            <a:endParaRPr lang="en-US" sz="650" dirty="0"/>
          </a:p>
        </p:txBody>
      </p:sp>
      <p:sp>
        <p:nvSpPr>
          <p:cNvPr id="49" name="Shape 46"/>
          <p:cNvSpPr/>
          <p:nvPr/>
        </p:nvSpPr>
        <p:spPr>
          <a:xfrm>
            <a:off x="365760" y="4334256"/>
            <a:ext cx="8412480" cy="310896"/>
          </a:xfrm>
          <a:prstGeom prst="roundRect">
            <a:avLst>
              <a:gd name="adj" fmla="val 17647"/>
            </a:avLst>
          </a:prstGeom>
          <a:solidFill>
            <a:srgbClr val="0E2A47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66928" y="4407408"/>
            <a:ext cx="8010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useful cluster should be both mathematically well separated and physically interpretable as a realistic electricity-consumption behaviour.”</a:t>
            </a:r>
            <a:endParaRPr lang="en-US" sz="850" dirty="0"/>
          </a:p>
        </p:txBody>
      </p:sp>
      <p:sp>
        <p:nvSpPr>
          <p:cNvPr id="51" name="Text 48"/>
          <p:cNvSpPr txBox="1"/>
          <p:nvPr/>
        </p:nvSpPr>
        <p:spPr>
          <a:xfrm>
            <a:off x="365760" y="4773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PVPSIT · Categorization of Residential Energy Consumption</a:t>
            </a:r>
            <a:endParaRPr lang="en-US" sz="750" dirty="0"/>
          </a:p>
        </p:txBody>
      </p:sp>
      <p:sp>
        <p:nvSpPr>
          <p:cNvPr id="52" name="Text 49"/>
          <p:cNvSpPr txBox="1"/>
          <p:nvPr/>
        </p:nvSpPr>
        <p:spPr>
          <a:xfrm>
            <a:off x="6949440" y="4773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06 / 08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69748"/>
            <a:ext cx="68580" cy="6858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93776" y="21945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20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 · CLASSIFICATION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420624"/>
            <a:ext cx="7589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Discovered Clusters to Automated Classification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863840" y="5120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877824"/>
            <a:ext cx="8412480" cy="310896"/>
          </a:xfrm>
          <a:prstGeom prst="roundRect">
            <a:avLst>
              <a:gd name="adj" fmla="val 17647"/>
            </a:avLst>
          </a:prstGeom>
          <a:solidFill>
            <a:srgbClr val="0E2A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950976"/>
            <a:ext cx="8010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850" i="1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“Clustering discovers the groups; classification learns how to assign new consumer profiles to those groups.”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1261872"/>
            <a:ext cx="40690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61872"/>
            <a:ext cx="4069080" cy="384048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" y="1298448"/>
            <a:ext cx="3813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1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650" dirty="0"/>
          </a:p>
        </p:txBody>
      </p:sp>
      <p:sp>
        <p:nvSpPr>
          <p:cNvPr id="11" name="Text 9"/>
          <p:cNvSpPr txBox="1"/>
          <p:nvPr/>
        </p:nvSpPr>
        <p:spPr>
          <a:xfrm>
            <a:off x="493776" y="1444752"/>
            <a:ext cx="3813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Discovery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3776" y="1737360"/>
            <a:ext cx="3813048" cy="192024"/>
          </a:xfrm>
          <a:prstGeom prst="roundRect">
            <a:avLst>
              <a:gd name="adj" fmla="val 19048"/>
            </a:avLst>
          </a:prstGeom>
          <a:solidFill>
            <a:srgbClr val="F6F8FA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" y="1737360"/>
            <a:ext cx="3813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Smart-Meter Data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93776" y="1965960"/>
            <a:ext cx="3813048" cy="192024"/>
          </a:xfrm>
          <a:prstGeom prst="roundRect">
            <a:avLst>
              <a:gd name="adj" fmla="val 19048"/>
            </a:avLst>
          </a:prstGeom>
          <a:solidFill>
            <a:srgbClr val="F6F8FA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3776" y="1965960"/>
            <a:ext cx="3813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93776" y="2194560"/>
            <a:ext cx="3813048" cy="192024"/>
          </a:xfrm>
          <a:prstGeom prst="roundRect">
            <a:avLst>
              <a:gd name="adj" fmla="val 19048"/>
            </a:avLst>
          </a:prstGeom>
          <a:solidFill>
            <a:srgbClr val="F6F8FA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3776" y="2194560"/>
            <a:ext cx="3813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93776" y="2423160"/>
            <a:ext cx="3813048" cy="192024"/>
          </a:xfrm>
          <a:prstGeom prst="roundRect">
            <a:avLst>
              <a:gd name="adj" fmla="val 19048"/>
            </a:avLst>
          </a:prstGeom>
          <a:solidFill>
            <a:srgbClr val="F6F8FA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" y="2423160"/>
            <a:ext cx="3813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Discovered Cluster IDs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493776" y="2651760"/>
            <a:ext cx="3813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cluster IDs become temporary / pseudo labels.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4709160" y="1261872"/>
            <a:ext cx="406908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261872"/>
            <a:ext cx="4069080" cy="384048"/>
          </a:xfrm>
          <a:prstGeom prst="rect">
            <a:avLst/>
          </a:prstGeom>
          <a:solidFill>
            <a:srgbClr val="0E7A3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37176" y="1298448"/>
            <a:ext cx="3813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b="1" kern="0" spc="100" dirty="0">
                <a:solidFill>
                  <a:srgbClr val="D8E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650" dirty="0"/>
          </a:p>
        </p:txBody>
      </p:sp>
      <p:sp>
        <p:nvSpPr>
          <p:cNvPr id="24" name="Text 22"/>
          <p:cNvSpPr txBox="1"/>
          <p:nvPr/>
        </p:nvSpPr>
        <p:spPr>
          <a:xfrm>
            <a:off x="4837176" y="1444752"/>
            <a:ext cx="3813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Assignment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37176" y="1737360"/>
            <a:ext cx="3813048" cy="192024"/>
          </a:xfrm>
          <a:prstGeom prst="roundRect">
            <a:avLst>
              <a:gd name="adj" fmla="val 19048"/>
            </a:avLst>
          </a:prstGeom>
          <a:solidFill>
            <a:srgbClr val="F6F8FA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37176" y="1737360"/>
            <a:ext cx="3813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Cluster-labelled Profiles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837176" y="1965960"/>
            <a:ext cx="3813048" cy="192024"/>
          </a:xfrm>
          <a:prstGeom prst="roundRect">
            <a:avLst>
              <a:gd name="adj" fmla="val 19048"/>
            </a:avLst>
          </a:prstGeom>
          <a:solidFill>
            <a:srgbClr val="F6F8FA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37176" y="1965960"/>
            <a:ext cx="3813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Classifiers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837176" y="2194560"/>
            <a:ext cx="3813048" cy="192024"/>
          </a:xfrm>
          <a:prstGeom prst="roundRect">
            <a:avLst>
              <a:gd name="adj" fmla="val 19048"/>
            </a:avLst>
          </a:prstGeom>
          <a:solidFill>
            <a:srgbClr val="F6F8FA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37176" y="2194560"/>
            <a:ext cx="3813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Consumer Profile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837176" y="2423160"/>
            <a:ext cx="3813048" cy="192024"/>
          </a:xfrm>
          <a:prstGeom prst="roundRect">
            <a:avLst>
              <a:gd name="adj" fmla="val 19048"/>
            </a:avLst>
          </a:prstGeom>
          <a:solidFill>
            <a:srgbClr val="F6F8FA"/>
          </a:solidFill>
          <a:ln w="6350">
            <a:solidFill>
              <a:srgbClr val="DCE3E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37176" y="2423160"/>
            <a:ext cx="381304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Cluster</a:t>
            </a:r>
            <a:endParaRPr lang="en-US" sz="750" dirty="0"/>
          </a:p>
        </p:txBody>
      </p:sp>
      <p:sp>
        <p:nvSpPr>
          <p:cNvPr id="33" name="Text 31"/>
          <p:cNvSpPr txBox="1"/>
          <p:nvPr/>
        </p:nvSpPr>
        <p:spPr>
          <a:xfrm>
            <a:off x="4837176" y="2651760"/>
            <a:ext cx="3813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learn the boundaries between discovered groups.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365760" y="2926080"/>
            <a:ext cx="1979676" cy="566928"/>
          </a:xfrm>
          <a:prstGeom prst="roundRect">
            <a:avLst>
              <a:gd name="adj" fmla="val 9677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5488" y="3026664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94944" y="2990088"/>
            <a:ext cx="15407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850" dirty="0"/>
          </a:p>
        </p:txBody>
      </p:sp>
      <p:sp>
        <p:nvSpPr>
          <p:cNvPr id="37" name="Text 35"/>
          <p:cNvSpPr txBox="1"/>
          <p:nvPr/>
        </p:nvSpPr>
        <p:spPr>
          <a:xfrm>
            <a:off x="475488" y="3182112"/>
            <a:ext cx="1760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a new consumer based on the most similar existing profiles.</a:t>
            </a:r>
            <a:endParaRPr lang="en-US" sz="680" dirty="0"/>
          </a:p>
        </p:txBody>
      </p:sp>
      <p:sp>
        <p:nvSpPr>
          <p:cNvPr id="38" name="Shape 36"/>
          <p:cNvSpPr/>
          <p:nvPr/>
        </p:nvSpPr>
        <p:spPr>
          <a:xfrm>
            <a:off x="2510028" y="2926080"/>
            <a:ext cx="1979676" cy="566928"/>
          </a:xfrm>
          <a:prstGeom prst="roundRect">
            <a:avLst>
              <a:gd name="adj" fmla="val 9677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619756" y="3026664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2839212" y="2990088"/>
            <a:ext cx="15407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850" dirty="0"/>
          </a:p>
        </p:txBody>
      </p:sp>
      <p:sp>
        <p:nvSpPr>
          <p:cNvPr id="41" name="Text 39"/>
          <p:cNvSpPr txBox="1"/>
          <p:nvPr/>
        </p:nvSpPr>
        <p:spPr>
          <a:xfrm>
            <a:off x="2619756" y="3182112"/>
            <a:ext cx="1760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interpretable feature-based decision rules.</a:t>
            </a:r>
            <a:endParaRPr lang="en-US" sz="680" dirty="0"/>
          </a:p>
        </p:txBody>
      </p:sp>
      <p:sp>
        <p:nvSpPr>
          <p:cNvPr id="42" name="Shape 40"/>
          <p:cNvSpPr/>
          <p:nvPr/>
        </p:nvSpPr>
        <p:spPr>
          <a:xfrm>
            <a:off x="4654296" y="2926080"/>
            <a:ext cx="1979676" cy="566928"/>
          </a:xfrm>
          <a:prstGeom prst="roundRect">
            <a:avLst>
              <a:gd name="adj" fmla="val 9677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64024" y="3026664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983480" y="2990088"/>
            <a:ext cx="15407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850" dirty="0"/>
          </a:p>
        </p:txBody>
      </p:sp>
      <p:sp>
        <p:nvSpPr>
          <p:cNvPr id="45" name="Text 43"/>
          <p:cNvSpPr txBox="1"/>
          <p:nvPr/>
        </p:nvSpPr>
        <p:spPr>
          <a:xfrm>
            <a:off x="4764024" y="3182112"/>
            <a:ext cx="1760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boundaries separating discovered consumer groups.</a:t>
            </a:r>
            <a:endParaRPr lang="en-US" sz="680" dirty="0"/>
          </a:p>
        </p:txBody>
      </p:sp>
      <p:sp>
        <p:nvSpPr>
          <p:cNvPr id="46" name="Shape 44"/>
          <p:cNvSpPr/>
          <p:nvPr/>
        </p:nvSpPr>
        <p:spPr>
          <a:xfrm>
            <a:off x="6798564" y="2926080"/>
            <a:ext cx="1979676" cy="566928"/>
          </a:xfrm>
          <a:prstGeom prst="roundRect">
            <a:avLst>
              <a:gd name="adj" fmla="val 9677"/>
            </a:avLst>
          </a:prstGeom>
          <a:solidFill>
            <a:srgbClr val="F6F8FA"/>
          </a:solidFill>
          <a:ln w="9525">
            <a:solidFill>
              <a:srgbClr val="DCE3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08292" y="3026664"/>
            <a:ext cx="164592" cy="16459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127748" y="2990088"/>
            <a:ext cx="15407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0E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850" dirty="0"/>
          </a:p>
        </p:txBody>
      </p:sp>
      <p:sp>
        <p:nvSpPr>
          <p:cNvPr id="49" name="Text 47"/>
          <p:cNvSpPr txBox="1"/>
          <p:nvPr/>
        </p:nvSpPr>
        <p:spPr>
          <a:xfrm>
            <a:off x="6908292" y="3182112"/>
            <a:ext cx="17602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900"/>
              </a:lnSpc>
              <a:buNone/>
            </a:pPr>
            <a:r>
              <a:rPr lang="en-US" sz="68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the probability of membership in each discovered group.</a:t>
            </a:r>
            <a:endParaRPr lang="en-US" sz="680" dirty="0"/>
          </a:p>
        </p:txBody>
      </p:sp>
      <p:sp>
        <p:nvSpPr>
          <p:cNvPr id="50" name="Text 48"/>
          <p:cNvSpPr txBox="1"/>
          <p:nvPr/>
        </p:nvSpPr>
        <p:spPr>
          <a:xfrm>
            <a:off x="365760" y="360273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74520" y="3566160"/>
            <a:ext cx="841248" cy="219456"/>
          </a:xfrm>
          <a:prstGeom prst="roundRect">
            <a:avLst>
              <a:gd name="adj" fmla="val 41667"/>
            </a:avLst>
          </a:prstGeom>
          <a:solidFill>
            <a:srgbClr val="EAF6EF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874520" y="35661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680" dirty="0"/>
          </a:p>
        </p:txBody>
      </p:sp>
      <p:sp>
        <p:nvSpPr>
          <p:cNvPr id="53" name="Shape 51"/>
          <p:cNvSpPr/>
          <p:nvPr/>
        </p:nvSpPr>
        <p:spPr>
          <a:xfrm>
            <a:off x="2788920" y="3566160"/>
            <a:ext cx="841248" cy="219456"/>
          </a:xfrm>
          <a:prstGeom prst="roundRect">
            <a:avLst>
              <a:gd name="adj" fmla="val 41667"/>
            </a:avLst>
          </a:prstGeom>
          <a:solidFill>
            <a:srgbClr val="EAF6EF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2788920" y="35661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680" dirty="0"/>
          </a:p>
        </p:txBody>
      </p:sp>
      <p:sp>
        <p:nvSpPr>
          <p:cNvPr id="55" name="Shape 53"/>
          <p:cNvSpPr/>
          <p:nvPr/>
        </p:nvSpPr>
        <p:spPr>
          <a:xfrm>
            <a:off x="3703320" y="3566160"/>
            <a:ext cx="841248" cy="219456"/>
          </a:xfrm>
          <a:prstGeom prst="roundRect">
            <a:avLst>
              <a:gd name="adj" fmla="val 41667"/>
            </a:avLst>
          </a:prstGeom>
          <a:solidFill>
            <a:srgbClr val="EAF6EF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703320" y="35661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680" dirty="0"/>
          </a:p>
        </p:txBody>
      </p:sp>
      <p:sp>
        <p:nvSpPr>
          <p:cNvPr id="57" name="Shape 55"/>
          <p:cNvSpPr/>
          <p:nvPr/>
        </p:nvSpPr>
        <p:spPr>
          <a:xfrm>
            <a:off x="4617720" y="3566160"/>
            <a:ext cx="841248" cy="219456"/>
          </a:xfrm>
          <a:prstGeom prst="roundRect">
            <a:avLst>
              <a:gd name="adj" fmla="val 41667"/>
            </a:avLst>
          </a:prstGeom>
          <a:solidFill>
            <a:srgbClr val="EAF6EF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617720" y="35661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680" dirty="0"/>
          </a:p>
        </p:txBody>
      </p:sp>
      <p:sp>
        <p:nvSpPr>
          <p:cNvPr id="59" name="Shape 57"/>
          <p:cNvSpPr/>
          <p:nvPr/>
        </p:nvSpPr>
        <p:spPr>
          <a:xfrm>
            <a:off x="5532120" y="3566160"/>
            <a:ext cx="841248" cy="219456"/>
          </a:xfrm>
          <a:prstGeom prst="roundRect">
            <a:avLst>
              <a:gd name="adj" fmla="val 41667"/>
            </a:avLst>
          </a:prstGeom>
          <a:solidFill>
            <a:srgbClr val="EAF6EF"/>
          </a:solidFill>
          <a:ln w="6350">
            <a:solidFill>
              <a:srgbClr val="16A34A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532120" y="356616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680" dirty="0"/>
          </a:p>
        </p:txBody>
      </p:sp>
      <p:sp>
        <p:nvSpPr>
          <p:cNvPr id="61" name="Shape 59"/>
          <p:cNvSpPr/>
          <p:nvPr/>
        </p:nvSpPr>
        <p:spPr>
          <a:xfrm>
            <a:off x="365760" y="3895344"/>
            <a:ext cx="8412480" cy="347472"/>
          </a:xfrm>
          <a:prstGeom prst="roundRect">
            <a:avLst>
              <a:gd name="adj" fmla="val 15789"/>
            </a:avLst>
          </a:prstGeom>
          <a:solidFill>
            <a:srgbClr val="FEF7E7"/>
          </a:solidFill>
          <a:ln w="9525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512064" y="3895344"/>
            <a:ext cx="8119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methodological note:  </a:t>
            </a:r>
            <a:r>
              <a:rPr lang="en-US" sz="7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classification labels are pseudo-labels generated by clustering, not original ground-truth consumption categories.</a:t>
            </a:r>
            <a:endParaRPr lang="en-US" sz="750" dirty="0"/>
          </a:p>
        </p:txBody>
      </p:sp>
      <p:sp>
        <p:nvSpPr>
          <p:cNvPr id="63" name="Text 61"/>
          <p:cNvSpPr txBox="1"/>
          <p:nvPr/>
        </p:nvSpPr>
        <p:spPr>
          <a:xfrm>
            <a:off x="365760" y="4352544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NEW CONSUMER ASSIGNMENT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3200400" y="4315968"/>
            <a:ext cx="1417320" cy="237744"/>
          </a:xfrm>
          <a:prstGeom prst="roundRect">
            <a:avLst>
              <a:gd name="adj" fmla="val 38462"/>
            </a:avLst>
          </a:prstGeom>
          <a:solidFill>
            <a:srgbClr val="16A34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3236976" y="4315968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Consumer</a:t>
            </a:r>
            <a:endParaRPr lang="en-US" sz="680" dirty="0"/>
          </a:p>
        </p:txBody>
      </p:sp>
      <p:sp>
        <p:nvSpPr>
          <p:cNvPr id="66" name="Text 64"/>
          <p:cNvSpPr txBox="1"/>
          <p:nvPr/>
        </p:nvSpPr>
        <p:spPr>
          <a:xfrm>
            <a:off x="4617720" y="4315968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937760" y="4315968"/>
            <a:ext cx="1417320" cy="237744"/>
          </a:xfrm>
          <a:prstGeom prst="roundRect">
            <a:avLst>
              <a:gd name="adj" fmla="val 38462"/>
            </a:avLst>
          </a:prstGeom>
          <a:solidFill>
            <a:srgbClr val="0E2A47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4974336" y="4315968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680" dirty="0"/>
          </a:p>
        </p:txBody>
      </p:sp>
      <p:sp>
        <p:nvSpPr>
          <p:cNvPr id="69" name="Text 67"/>
          <p:cNvSpPr txBox="1"/>
          <p:nvPr/>
        </p:nvSpPr>
        <p:spPr>
          <a:xfrm>
            <a:off x="6355080" y="4315968"/>
            <a:ext cx="320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7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675120" y="4315968"/>
            <a:ext cx="1417320" cy="237744"/>
          </a:xfrm>
          <a:prstGeom prst="roundRect">
            <a:avLst>
              <a:gd name="adj" fmla="val 38462"/>
            </a:avLst>
          </a:prstGeom>
          <a:solidFill>
            <a:srgbClr val="16A34A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711696" y="4315968"/>
            <a:ext cx="1344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Existing Cluster</a:t>
            </a:r>
            <a:endParaRPr lang="en-US" sz="680" dirty="0"/>
          </a:p>
        </p:txBody>
      </p:sp>
      <p:sp>
        <p:nvSpPr>
          <p:cNvPr id="72" name="Text 70"/>
          <p:cNvSpPr txBox="1"/>
          <p:nvPr/>
        </p:nvSpPr>
        <p:spPr>
          <a:xfrm>
            <a:off x="365760" y="477316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PVPSIT · Categorization of Residential Energy Consumption</a:t>
            </a:r>
            <a:endParaRPr lang="en-US" sz="750" dirty="0"/>
          </a:p>
        </p:txBody>
      </p:sp>
      <p:sp>
        <p:nvSpPr>
          <p:cNvPr id="73" name="Text 71"/>
          <p:cNvSpPr txBox="1"/>
          <p:nvPr/>
        </p:nvSpPr>
        <p:spPr>
          <a:xfrm>
            <a:off x="6949440" y="47731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07 / 08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1237</Words>
  <Application>Microsoft Office PowerPoint</Application>
  <PresentationFormat>On-screen Show (16:9)</PresentationFormat>
  <Paragraphs>287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Gogineni Ramanuja Sai</cp:lastModifiedBy>
  <cp:revision>2</cp:revision>
  <dcterms:created xsi:type="dcterms:W3CDTF">2026-09-16T16:23:27Z</dcterms:created>
  <dcterms:modified xsi:type="dcterms:W3CDTF">2026-09-16T17:03:03Z</dcterms:modified>
</cp:coreProperties>
</file>